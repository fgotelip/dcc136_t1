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2BA429-92C7-4906-BBCA-A9217BEA3410}">
  <a:tblStyle styleId="{762BA429-92C7-4906-BBCA-A9217BEA34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78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4c127eff9f56a5a0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h4c127eff9f56a5a0_3_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h4c127eff9f56a5a0_3_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4c127eff9f56a5a0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h4c127eff9f56a5a0_3_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h4c127eff9f56a5a0_3_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4c127eff9f56a5a0_3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h4c127eff9f56a5a0_3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4c127eff9f56a5a0_3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c127eff9f56a5a0_3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h4c127eff9f56a5a0_3_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h4c127eff9f56a5a0_3_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4c127eff9f56a5a0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h4c127eff9f56a5a0_3_6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4c127eff9f56a5a0_3_6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4c127eff9f56a5a0_3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h4c127eff9f56a5a0_3_9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h4c127eff9f56a5a0_3_9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c127eff9f56a5a0_3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h4c127eff9f56a5a0_3_10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4c127eff9f56a5a0_3_10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4c127eff9f56a5a0_3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h4c127eff9f56a5a0_3_1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h4c127eff9f56a5a0_3_1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4c127eff9f56a5a0_3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h4c127eff9f56a5a0_3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4c127eff9f56a5a0_3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h4c127eff9f56a5a0_3_1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h4c127eff9f56a5a0_3_1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4c127eff9f56a5a0_3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h4c127eff9f56a5a0_3_16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4c127eff9f56a5a0_3_16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4c127eff9f56a5a0_3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h4c127eff9f56a5a0_3_1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h4c127eff9f56a5a0_3_1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4c127eff9f56a5a0_3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h4c127eff9f56a5a0_3_19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h4c127eff9f56a5a0_3_1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4c127eff9f56a5a0_3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h4c127eff9f56a5a0_3_2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h4c127eff9f56a5a0_3_2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bg>
      <p:bgPr>
        <a:solidFill>
          <a:srgbClr val="F6F5F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7924800" cy="350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  <a:defRPr sz="24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09600" y="1188690"/>
            <a:ext cx="7924800" cy="334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C2A42"/>
              </a:buClr>
              <a:buSzPts val="1200"/>
              <a:buNone/>
              <a:defRPr sz="12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7924800" cy="350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09600" y="1188690"/>
            <a:ext cx="7924800" cy="334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C2A42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A42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609600" y="1612628"/>
            <a:ext cx="8162544" cy="72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2222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2700"/>
              <a:buFont typeface="Arial"/>
              <a:buNone/>
            </a:pPr>
            <a:r>
              <a:rPr lang="pt-BR" sz="2700" b="1" i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Heurística Construtiva e Busca Local para o</a:t>
            </a:r>
            <a:endParaRPr sz="2700"/>
          </a:p>
          <a:p>
            <a:pPr marL="0" lvl="0" indent="0" algn="l" rtl="0">
              <a:lnSpc>
                <a:spcPct val="102222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2700"/>
              <a:buFont typeface="Arial"/>
              <a:buNone/>
            </a:pPr>
            <a:r>
              <a:rPr lang="pt-BR" sz="2700" b="1" i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Problema de Localização de Locais de Prova</a:t>
            </a:r>
            <a:endParaRPr sz="2700"/>
          </a:p>
        </p:txBody>
      </p:sp>
      <p:sp>
        <p:nvSpPr>
          <p:cNvPr id="63" name="Google Shape;63;p16"/>
          <p:cNvSpPr/>
          <p:nvPr/>
        </p:nvSpPr>
        <p:spPr>
          <a:xfrm>
            <a:off x="6266252" y="4383770"/>
            <a:ext cx="25058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FB4FF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8FB4FF"/>
                </a:solidFill>
                <a:latin typeface="Arial"/>
                <a:ea typeface="Arial"/>
                <a:cs typeface="Arial"/>
                <a:sym typeface="Arial"/>
              </a:rPr>
              <a:t>DCC136 - Inteligência Computacional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609600" y="2818432"/>
            <a:ext cx="8162544" cy="381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Felipe Gotelip Delgado</a:t>
            </a:r>
            <a:endParaRPr sz="11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Mickaell Oliveira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 txBox="1"/>
          <p:nvPr/>
        </p:nvSpPr>
        <p:spPr>
          <a:xfrm>
            <a:off x="609600" y="4351478"/>
            <a:ext cx="4572000" cy="25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b="0" i="0" u="none" strike="noStrike" cap="none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UFJF - Departamento de Ciência da Computação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sz="2400" dirty="0"/>
          </a:p>
        </p:txBody>
      </p:sp>
      <p:sp>
        <p:nvSpPr>
          <p:cNvPr id="72" name="Google Shape;72;p17"/>
          <p:cNvSpPr/>
          <p:nvPr/>
        </p:nvSpPr>
        <p:spPr>
          <a:xfrm>
            <a:off x="611975" y="1152975"/>
            <a:ext cx="3881400" cy="1701061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766763" y="1307753"/>
            <a:ext cx="367903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Entradas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839724" y="1536353"/>
            <a:ext cx="3600355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≈ 4.000 candidatos, cada um com localização e 1 tipo de prova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6 tipos: M1, M2, M3d, M3e, M3h, M3s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12 escolas, com salas de capacidade q(</a:t>
            </a:r>
            <a:r>
              <a:rPr lang="pt-BR" sz="1100" dirty="0" err="1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j,s</a:t>
            </a:r>
            <a:r>
              <a:rPr lang="pt-BR" sz="11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Distâncias d(</a:t>
            </a:r>
            <a:r>
              <a:rPr lang="pt-BR" sz="1100" dirty="0" err="1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i,j</a:t>
            </a:r>
            <a:r>
              <a:rPr lang="pt-BR" sz="11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) em km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4650575" y="1152975"/>
            <a:ext cx="3881400" cy="1701061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805363" y="1307753"/>
            <a:ext cx="367903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Decisões e restrições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878324" y="1536353"/>
            <a:ext cx="3600355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Qual tipo cada sala aplica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Em qual escola e sala cada candidato fica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Capacidade de sala respeitada; 1 tipo por sala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--max-tipos K = 1 ou 2 tipos por escola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09600" y="3222340"/>
            <a:ext cx="7924800" cy="857400"/>
          </a:xfrm>
          <a:prstGeom prst="roundRect">
            <a:avLst>
              <a:gd name="adj" fmla="val 11111"/>
            </a:avLst>
          </a:prstGeom>
          <a:solidFill>
            <a:srgbClr val="1C2A4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766763" y="3319165"/>
            <a:ext cx="7691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766775" y="3578415"/>
            <a:ext cx="76917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Minimizar a distância total: min f(S) = Σ d(i, escola(i))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2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Representação da solução e avaliação</a:t>
            </a:r>
            <a:endParaRPr sz="2400"/>
          </a:p>
        </p:txBody>
      </p:sp>
      <p:sp>
        <p:nvSpPr>
          <p:cNvPr id="88" name="Google Shape;88;p18"/>
          <p:cNvSpPr/>
          <p:nvPr/>
        </p:nvSpPr>
        <p:spPr>
          <a:xfrm>
            <a:off x="611981" y="1152971"/>
            <a:ext cx="2535213" cy="911423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766762" y="1307753"/>
            <a:ext cx="22924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tipo_da_sala[escola][sala]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766762" y="1536353"/>
            <a:ext cx="2292420" cy="39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Tipo de prova de cada sala. Garante 1 tipo por sala por construção.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3304357" y="1152971"/>
            <a:ext cx="2535287" cy="911423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3459138" y="1307753"/>
            <a:ext cx="229249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escola_do_candidato[i]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3459138" y="1536353"/>
            <a:ext cx="2292496" cy="205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Escola atribuída ao candidato i.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5996806" y="1152971"/>
            <a:ext cx="2535213" cy="911423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6151587" y="1307753"/>
            <a:ext cx="22924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sala_do_candidato[i]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151587" y="1536353"/>
            <a:ext cx="2292420" cy="205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Sala atribuída ao candidato i.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607219" y="2725487"/>
            <a:ext cx="7924800" cy="1707968"/>
          </a:xfrm>
          <a:prstGeom prst="roundRect">
            <a:avLst>
              <a:gd name="adj" fmla="val 6536"/>
            </a:avLst>
          </a:prstGeom>
          <a:solidFill>
            <a:srgbClr val="1C2A4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845058" y="2879081"/>
            <a:ext cx="769162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Sem função de penalização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911161" y="3069581"/>
            <a:ext cx="7612952" cy="109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Construtivo e busca local nunca saem do espaço viável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Folga de ≈ 15% de capacidade (85% de ocupação) permite manobrar sem inviabilidade</a:t>
            </a:r>
            <a:endParaRPr sz="1100" dirty="0">
              <a:solidFill>
                <a:srgbClr val="F6F5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Penalização exigiria calibrar pesos artificiais &gt; diâmetro da rede (≈ 13 km nas nossas instâncias)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Limite K checado por |tipos distintos da escola| ≤ K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Avaliação vetorizada: soma de distancias[i], </a:t>
            </a:r>
            <a:r>
              <a:rPr lang="pt-BR" sz="1100" dirty="0" err="1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escola_do_candidato</a:t>
            </a: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[i]]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3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628214" y="2254507"/>
            <a:ext cx="7903804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Durante a execução algoritmo, olhamos apenas para a distância Aluno x Escola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Construtivo, Fase 1: tipo de cada escola</a:t>
            </a:r>
            <a:endParaRPr sz="2400"/>
          </a:p>
        </p:txBody>
      </p:sp>
      <p:sp>
        <p:nvSpPr>
          <p:cNvPr id="108" name="Google Shape;108;p19"/>
          <p:cNvSpPr/>
          <p:nvPr/>
        </p:nvSpPr>
        <p:spPr>
          <a:xfrm>
            <a:off x="611981" y="1152971"/>
            <a:ext cx="2535213" cy="1687211"/>
          </a:xfrm>
          <a:prstGeom prst="roundRect">
            <a:avLst>
              <a:gd name="adj" fmla="val 8458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766762" y="1307753"/>
            <a:ext cx="22924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Custo estimado c(j,t)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766762" y="1536352"/>
            <a:ext cx="2292420" cy="114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Distância média dos min(Q_j,D_t) candidatos do tipo t mais próximos da escola j.</a:t>
            </a:r>
            <a:endParaRPr sz="1100">
              <a:solidFill>
                <a:srgbClr val="1C2A4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Qⱼ = Capacidade da escola</a:t>
            </a:r>
            <a:endParaRPr sz="11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Dₜ = Demanda do tipo de prova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3304357" y="1152971"/>
            <a:ext cx="2535287" cy="1687211"/>
          </a:xfrm>
          <a:prstGeom prst="roundRect">
            <a:avLst>
              <a:gd name="adj" fmla="val 8458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3459138" y="1307753"/>
            <a:ext cx="229249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Ordem de decisão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3459138" y="1536353"/>
            <a:ext cx="2292496" cy="5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Escolas da maior para a menor capacidade; tipos do menor para o maior custo estimado.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5996806" y="1152971"/>
            <a:ext cx="2535213" cy="1687211"/>
          </a:xfrm>
          <a:prstGeom prst="roundRect">
            <a:avLst>
              <a:gd name="adj" fmla="val 8458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6151587" y="1307753"/>
            <a:ext cx="22924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Backtracking com poda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6151587" y="1536353"/>
            <a:ext cx="2292420" cy="5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Se a capacidade das escolas restantes &lt; demanda ainda descoberta, poda e retrocede.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19"/>
          <p:cNvGrpSpPr/>
          <p:nvPr/>
        </p:nvGrpSpPr>
        <p:grpSpPr>
          <a:xfrm>
            <a:off x="605028" y="3110297"/>
            <a:ext cx="7924800" cy="1057275"/>
            <a:chOff x="812800" y="3258542"/>
            <a:chExt cx="10566400" cy="1409700"/>
          </a:xfrm>
        </p:grpSpPr>
        <p:sp>
          <p:nvSpPr>
            <p:cNvPr id="118" name="Google Shape;118;p19"/>
            <p:cNvSpPr/>
            <p:nvPr/>
          </p:nvSpPr>
          <p:spPr>
            <a:xfrm>
              <a:off x="812800" y="3258542"/>
              <a:ext cx="10566400" cy="1409700"/>
            </a:xfrm>
            <a:prstGeom prst="roundRect">
              <a:avLst>
                <a:gd name="adj" fmla="val 9009"/>
              </a:avLst>
            </a:prstGeom>
            <a:solidFill>
              <a:srgbClr val="1C2A42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1117600" y="3537942"/>
              <a:ext cx="10255504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5F0"/>
                </a:buClr>
                <a:buSzPts val="1100"/>
                <a:buFont typeface="Arial"/>
                <a:buNone/>
              </a:pPr>
              <a:r>
                <a:rPr lang="pt-BR" sz="1100" b="1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Resultado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1117600" y="3855442"/>
              <a:ext cx="10255504" cy="5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5F0"/>
                </a:buClr>
                <a:buSzPts val="1100"/>
                <a:buFont typeface="Arial"/>
                <a:buNone/>
              </a:pPr>
              <a:r>
                <a:rPr lang="pt-BR" sz="110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Cada escola recebe 1 tipo e a demanda de todos os 6 tipos é coberta. A solução já é viável para K = 1 e K = 2, sem etapa de reparo.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19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4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Construtivo, Fase 2: alocação dos candidatos</a:t>
            </a:r>
            <a:endParaRPr sz="2400"/>
          </a:p>
        </p:txBody>
      </p:sp>
      <p:sp>
        <p:nvSpPr>
          <p:cNvPr id="128" name="Google Shape;128;p20"/>
          <p:cNvSpPr/>
          <p:nvPr/>
        </p:nvSpPr>
        <p:spPr>
          <a:xfrm>
            <a:off x="611975" y="1152974"/>
            <a:ext cx="2535300" cy="1650643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766762" y="1307753"/>
            <a:ext cx="22924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Ordem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766762" y="1536353"/>
            <a:ext cx="2292420" cy="116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Cada tipo é alocado de forma independente, por arrependimento decrescente: d(2ª escola do tipo) − d(1ª escola do tipo). Prioriza-se quem sofreria maior penalização.</a:t>
            </a:r>
            <a:endParaRPr sz="1100"/>
          </a:p>
        </p:txBody>
      </p:sp>
      <p:sp>
        <p:nvSpPr>
          <p:cNvPr id="131" name="Google Shape;131;p20"/>
          <p:cNvSpPr/>
          <p:nvPr/>
        </p:nvSpPr>
        <p:spPr>
          <a:xfrm>
            <a:off x="3304350" y="1152975"/>
            <a:ext cx="2535300" cy="165064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3459138" y="1307753"/>
            <a:ext cx="229249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Alocação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3459138" y="1536353"/>
            <a:ext cx="2292496" cy="5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Cada candidato vai para a escola compatível mais próxima que ainda tem vaga.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5996800" y="1152974"/>
            <a:ext cx="2535300" cy="1650641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6151587" y="1307753"/>
            <a:ext cx="22924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Salas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6151587" y="1536353"/>
            <a:ext cx="2292420" cy="5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preencher_salas distribui os candidatos sequencialmente até q(j,s) em cada sala.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20"/>
          <p:cNvGrpSpPr/>
          <p:nvPr/>
        </p:nvGrpSpPr>
        <p:grpSpPr>
          <a:xfrm>
            <a:off x="619125" y="3061855"/>
            <a:ext cx="3886200" cy="1324354"/>
            <a:chOff x="812800" y="3570607"/>
            <a:chExt cx="5181600" cy="1366341"/>
          </a:xfrm>
        </p:grpSpPr>
        <p:sp>
          <p:nvSpPr>
            <p:cNvPr id="138" name="Google Shape;138;p20"/>
            <p:cNvSpPr/>
            <p:nvPr/>
          </p:nvSpPr>
          <p:spPr>
            <a:xfrm>
              <a:off x="812800" y="3570607"/>
              <a:ext cx="5181600" cy="1366341"/>
            </a:xfrm>
            <a:prstGeom prst="roundRect">
              <a:avLst>
                <a:gd name="adj" fmla="val 9295"/>
              </a:avLst>
            </a:prstGeom>
            <a:solidFill>
              <a:srgbClr val="1C2A4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>
              <a:off x="1066800" y="3701231"/>
              <a:ext cx="4813808" cy="360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5F0"/>
                </a:buClr>
                <a:buSzPts val="1700"/>
                <a:buFont typeface="Arial"/>
                <a:buNone/>
              </a:pPr>
              <a:r>
                <a:rPr lang="pt-BR" sz="1700" b="1" dirty="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Eficiência</a:t>
              </a:r>
              <a:endParaRPr sz="17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>
              <a:off x="1066800" y="4061345"/>
              <a:ext cx="4927600" cy="523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0,02 a 0,03 s de </a:t>
              </a:r>
              <a:r>
                <a:rPr lang="pt-BR" sz="1100" dirty="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tempo de execução do construtivo em instâncias de ≈ 4.000 candidatos.</a:t>
              </a:r>
              <a:endParaRPr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20"/>
          <p:cNvGrpSpPr/>
          <p:nvPr/>
        </p:nvGrpSpPr>
        <p:grpSpPr>
          <a:xfrm>
            <a:off x="4638675" y="3061855"/>
            <a:ext cx="3886200" cy="1324354"/>
            <a:chOff x="6197600" y="3570607"/>
            <a:chExt cx="5181600" cy="1366341"/>
          </a:xfrm>
        </p:grpSpPr>
        <p:sp>
          <p:nvSpPr>
            <p:cNvPr id="142" name="Google Shape;142;p20"/>
            <p:cNvSpPr/>
            <p:nvPr/>
          </p:nvSpPr>
          <p:spPr>
            <a:xfrm>
              <a:off x="6197600" y="3570607"/>
              <a:ext cx="5181600" cy="1366341"/>
            </a:xfrm>
            <a:prstGeom prst="roundRect">
              <a:avLst>
                <a:gd name="adj" fmla="val 9295"/>
              </a:avLst>
            </a:prstGeom>
            <a:solidFill>
              <a:srgbClr val="1C2A42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6451600" y="3700685"/>
              <a:ext cx="4813808" cy="360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5F0"/>
                </a:buClr>
                <a:buSzPts val="1700"/>
                <a:buFont typeface="Arial"/>
                <a:buNone/>
              </a:pPr>
              <a:r>
                <a:rPr lang="pt-BR" sz="1700" b="1" dirty="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Validação de viabilidade</a:t>
              </a:r>
              <a:endParaRPr sz="17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6451600" y="4061345"/>
              <a:ext cx="4813808" cy="523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5F0"/>
                </a:buClr>
                <a:buSzPts val="1100"/>
                <a:buFont typeface="Arial"/>
                <a:buNone/>
              </a:pPr>
              <a:r>
                <a:rPr lang="pt-BR" sz="1100" dirty="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23 das 28 instâncias da turma: 460 execuções, todas viáveis. As demais 5 instâncias eram matematicamente inviáveis.</a:t>
              </a:r>
              <a:endParaRPr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20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5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Estruturas de vizinhança</a:t>
            </a:r>
            <a:endParaRPr sz="2400"/>
          </a:p>
        </p:txBody>
      </p:sp>
      <p:sp>
        <p:nvSpPr>
          <p:cNvPr id="152" name="Google Shape;152;p21"/>
          <p:cNvSpPr/>
          <p:nvPr/>
        </p:nvSpPr>
        <p:spPr>
          <a:xfrm>
            <a:off x="611975" y="1152975"/>
            <a:ext cx="2535300" cy="1971224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766762" y="1307753"/>
            <a:ext cx="22924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V1 · Realocar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839724" y="1536353"/>
            <a:ext cx="2213744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Move 1 candidato para escola mais próxima do seu tipo com vaga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Aproveita a folga de ≈ 15%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3304350" y="1152975"/>
            <a:ext cx="2535300" cy="1971224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3459138" y="1307753"/>
            <a:ext cx="229249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V2 · Trocar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3532100" y="1536353"/>
            <a:ext cx="22138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Dois candidatos do mesmo tipo trocam de escola se a soma das distâncias cai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Funciona mesmo com escolas lotadas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5996800" y="1152974"/>
            <a:ext cx="2535300" cy="1971225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151587" y="1307753"/>
            <a:ext cx="22924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V3 · Mudar tipos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6224549" y="1536353"/>
            <a:ext cx="2213743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K = 1: duas escolas trocam seus tipos (até 66 pares)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K = 2: uma sala muda de tipo, com no máximo 2 tipos na escola (≈ 725 movimentos)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Onde está o maior ganho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6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Dinâmica da busca local</a:t>
            </a:r>
            <a:endParaRPr sz="2400"/>
          </a:p>
        </p:txBody>
      </p:sp>
      <p:sp>
        <p:nvSpPr>
          <p:cNvPr id="168" name="Google Shape;168;p22"/>
          <p:cNvSpPr/>
          <p:nvPr/>
        </p:nvSpPr>
        <p:spPr>
          <a:xfrm>
            <a:off x="611975" y="1152976"/>
            <a:ext cx="3881400" cy="2193900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766763" y="1307753"/>
            <a:ext cx="367903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Mudança de tipo viável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808955" y="1536353"/>
            <a:ext cx="3631124" cy="1309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Checa se a capacidade global do tipo cobre a demanda (se não cobrir desfaz)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Desaloja excedentes, os mais distantes primeiro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Realoca por arrependimento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Aplica Realocar e Trocar nos tipos afetados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Aceita se o custo caiu; senão, rollback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4650575" y="1152976"/>
            <a:ext cx="3881400" cy="2193900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4805363" y="1307753"/>
            <a:ext cx="367903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Busca em níveis (first improvement)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4847555" y="1536353"/>
            <a:ext cx="3631124" cy="1309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Nível interno (refinamento rápido): Realocar + Trocar até convergir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Nível externo (mudança estrutural): mudanças de tipo em ordem sorteada pela semente, aceitando a 1ª que melhora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Encerramento (sem melhoria): ótimo local nas 3 vizinhanças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7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Exemplo passo a passo em instância pequena</a:t>
            </a:r>
            <a:endParaRPr sz="2400"/>
          </a:p>
        </p:txBody>
      </p:sp>
      <p:graphicFrame>
        <p:nvGraphicFramePr>
          <p:cNvPr id="181" name="Google Shape;181;p23"/>
          <p:cNvGraphicFramePr/>
          <p:nvPr/>
        </p:nvGraphicFramePr>
        <p:xfrm>
          <a:off x="619125" y="1160115"/>
          <a:ext cx="7915250" cy="1505930"/>
        </p:xfrm>
        <a:graphic>
          <a:graphicData uri="http://schemas.openxmlformats.org/drawingml/2006/table">
            <a:tbl>
              <a:tblPr>
                <a:noFill/>
                <a:tableStyleId>{762BA429-92C7-4906-BBCA-A9217BEA3410}</a:tableStyleId>
              </a:tblPr>
              <a:tblGrid>
                <a:gridCol w="158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Candidato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Dist. E1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Dist. E2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Arrependimento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 km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8,0 km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7,0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 km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4,0 km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 km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9,0 km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 km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 km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4,0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2" name="Google Shape;182;p23"/>
          <p:cNvSpPr/>
          <p:nvPr/>
        </p:nvSpPr>
        <p:spPr>
          <a:xfrm>
            <a:off x="611981" y="2800350"/>
            <a:ext cx="2538413" cy="1106632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766762" y="2955131"/>
            <a:ext cx="229571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Passo 1 · Fase 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766762" y="3183731"/>
            <a:ext cx="2295716" cy="53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E1: custo M1 = 1,5 km contra M2 = 3,75 km, então M1. Se E2 fosse M1, M2 ficaria sem vagas (poda), então M2.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3307556" y="2800350"/>
            <a:ext cx="2538413" cy="1106632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3462338" y="2955131"/>
            <a:ext cx="229571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Passo 2 · Fase 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3462338" y="3183731"/>
            <a:ext cx="2295716" cy="53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C1 e C2 vão para E1 (3,0 km); C3 e C4 vão para E2 (11,0 km). Custo inicial: 14,0 km.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6000750" y="2797969"/>
            <a:ext cx="2533650" cy="1106632"/>
          </a:xfrm>
          <a:prstGeom prst="roundRect">
            <a:avLst>
              <a:gd name="adj" fmla="val 8962"/>
            </a:avLst>
          </a:prstGeom>
          <a:solidFill>
            <a:srgbClr val="1C2A4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6153150" y="2950369"/>
            <a:ext cx="229571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Passo 3 · Busca local, K = 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6153150" y="3178969"/>
            <a:ext cx="2295716" cy="3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Uma sala de cada escola muda de tipo. Custo final: 8,5 km (−39,3%).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8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Busca local com K = 2: passo a passo da V3</a:t>
            </a:r>
            <a:endParaRPr sz="2400"/>
          </a:p>
        </p:txBody>
      </p:sp>
      <p:graphicFrame>
        <p:nvGraphicFramePr>
          <p:cNvPr id="197" name="Google Shape;197;p24"/>
          <p:cNvGraphicFramePr/>
          <p:nvPr/>
        </p:nvGraphicFramePr>
        <p:xfrm>
          <a:off x="619125" y="1160115"/>
          <a:ext cx="7915250" cy="1807116"/>
        </p:xfrm>
        <a:graphic>
          <a:graphicData uri="http://schemas.openxmlformats.org/drawingml/2006/table">
            <a:tbl>
              <a:tblPr>
                <a:noFill/>
                <a:tableStyleId>{762BA429-92C7-4906-BBCA-A9217BEA3410}</a:tableStyleId>
              </a:tblPr>
              <a:tblGrid>
                <a:gridCol w="158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Sala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antes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Candidato antes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depois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Candidato depois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E1 · Sala 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C1 (1,0 km)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C1 (1,0 km)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E1 · Sala 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(2,0 km)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6FE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2F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6FE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2F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(1,5 km)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E2 · Sala 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(9,0 km)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6FE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2F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6FE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2F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(4,0 km)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E2 · Sala 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C4 (2,0 km)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C4 (2,0 km)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 total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14,0 km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6FE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2F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8,5 km (−39,3%)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6675" marR="46675" marT="46675" marB="4667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Agrupar 2">
            <a:extLst>
              <a:ext uri="{FF2B5EF4-FFF2-40B4-BE49-F238E27FC236}">
                <a16:creationId xmlns:a16="http://schemas.microsoft.com/office/drawing/2014/main" id="{FAAE8222-023E-0453-5FCE-458EB873F7DD}"/>
              </a:ext>
            </a:extLst>
          </p:cNvPr>
          <p:cNvGrpSpPr/>
          <p:nvPr/>
        </p:nvGrpSpPr>
        <p:grpSpPr>
          <a:xfrm>
            <a:off x="619125" y="3148206"/>
            <a:ext cx="7922419" cy="1231582"/>
            <a:chOff x="611981" y="3000000"/>
            <a:chExt cx="7922419" cy="1231582"/>
          </a:xfrm>
        </p:grpSpPr>
        <p:sp>
          <p:nvSpPr>
            <p:cNvPr id="198" name="Google Shape;198;p24"/>
            <p:cNvSpPr/>
            <p:nvPr/>
          </p:nvSpPr>
          <p:spPr>
            <a:xfrm>
              <a:off x="611981" y="3000000"/>
              <a:ext cx="2538413" cy="1231582"/>
            </a:xfrm>
            <a:prstGeom prst="roundRect">
              <a:avLst>
                <a:gd name="adj" fmla="val 8777"/>
              </a:avLst>
            </a:prstGeom>
            <a:solidFill>
              <a:srgbClr val="FFFFFF"/>
            </a:solidFill>
            <a:ln w="9525" cap="flat" cmpd="sng">
              <a:solidFill>
                <a:srgbClr val="DEDD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766762" y="3154781"/>
              <a:ext cx="22957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F6FE0"/>
                </a:buClr>
                <a:buSzPts val="1100"/>
                <a:buFont typeface="Arial"/>
                <a:buNone/>
              </a:pPr>
              <a:r>
                <a:rPr lang="pt-BR" sz="1100" b="1" dirty="0">
                  <a:solidFill>
                    <a:srgbClr val="2F6FE0"/>
                  </a:solidFill>
                  <a:latin typeface="Arial"/>
                  <a:ea typeface="Arial"/>
                  <a:cs typeface="Arial"/>
                  <a:sym typeface="Arial"/>
                </a:rPr>
                <a:t>Passo 3.1 · Muda os tipos</a:t>
              </a:r>
              <a:endParaRPr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766762" y="3383381"/>
              <a:ext cx="2295716" cy="693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2A42"/>
                </a:buClr>
                <a:buSzPts val="1000"/>
                <a:buFont typeface="Arial"/>
                <a:buNone/>
              </a:pPr>
              <a:r>
                <a:rPr lang="pt-BR" sz="1000" dirty="0">
                  <a:solidFill>
                    <a:srgbClr val="1C2A42"/>
                  </a:solidFill>
                  <a:latin typeface="Arial"/>
                  <a:ea typeface="Arial"/>
                  <a:cs typeface="Arial"/>
                  <a:sym typeface="Arial"/>
                </a:rPr>
                <a:t>E1 Sala 2: M1 → M2 e E2 Sala 1: M2 → M1. A capacidade global de M1 e de M2 continua cobrindo a demanda.</a:t>
              </a:r>
              <a:endParaRPr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3307556" y="3000000"/>
              <a:ext cx="2538413" cy="1231582"/>
            </a:xfrm>
            <a:prstGeom prst="roundRect">
              <a:avLst>
                <a:gd name="adj" fmla="val 8777"/>
              </a:avLst>
            </a:prstGeom>
            <a:solidFill>
              <a:srgbClr val="FFFFFF"/>
            </a:solidFill>
            <a:ln w="9525" cap="flat" cmpd="sng">
              <a:solidFill>
                <a:srgbClr val="DEDD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3462338" y="3154781"/>
              <a:ext cx="22957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F6FE0"/>
                </a:buClr>
                <a:buSzPts val="1100"/>
                <a:buFont typeface="Arial"/>
                <a:buNone/>
              </a:pPr>
              <a:r>
                <a:rPr lang="pt-BR" sz="1100" b="1" dirty="0">
                  <a:solidFill>
                    <a:srgbClr val="2F6FE0"/>
                  </a:solidFill>
                  <a:latin typeface="Arial"/>
                  <a:ea typeface="Arial"/>
                  <a:cs typeface="Arial"/>
                  <a:sym typeface="Arial"/>
                </a:rPr>
                <a:t>Passo 3.2 · Recoloca</a:t>
              </a:r>
              <a:endParaRPr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3462338" y="3383381"/>
              <a:ext cx="2295716" cy="693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2A42"/>
                </a:buClr>
                <a:buSzPts val="1000"/>
                <a:buFont typeface="Arial"/>
                <a:buNone/>
              </a:pPr>
              <a:r>
                <a:rPr lang="pt-BR" sz="1000">
                  <a:solidFill>
                    <a:srgbClr val="1C2A42"/>
                  </a:solidFill>
                  <a:latin typeface="Arial"/>
                  <a:ea typeface="Arial"/>
                  <a:cs typeface="Arial"/>
                  <a:sym typeface="Arial"/>
                </a:rPr>
                <a:t>C2 e C3 perdem a sala (custo parcial: 3,0 km). C3 (arrependimento 7,5) vai para E1 Sala 2 e C2 para E2 Sala 1.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6000750" y="3000000"/>
              <a:ext cx="2533650" cy="1231582"/>
            </a:xfrm>
            <a:prstGeom prst="roundRect">
              <a:avLst>
                <a:gd name="adj" fmla="val 8962"/>
              </a:avLst>
            </a:prstGeom>
            <a:solidFill>
              <a:srgbClr val="1C2A4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6153150" y="3154781"/>
              <a:ext cx="22957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5F0"/>
                </a:buClr>
                <a:buSzPts val="1100"/>
                <a:buFont typeface="Arial"/>
                <a:buNone/>
              </a:pPr>
              <a:r>
                <a:rPr lang="pt-BR" sz="1100" b="1" dirty="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Passo 3.3 · Aceita o custo</a:t>
              </a:r>
              <a:endParaRPr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6153150" y="3383381"/>
              <a:ext cx="2295716" cy="693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5F0"/>
                </a:buClr>
                <a:buSzPts val="1000"/>
                <a:buFont typeface="Arial"/>
                <a:buNone/>
              </a:pPr>
              <a:r>
                <a:rPr lang="pt-BR" sz="100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Custo de 14,0 para 8,5 km: aceita. Realocar e Trocar não melhoram mais, então é ótimo local.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24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9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Onde a abordagem não produz boa solução</a:t>
            </a:r>
            <a:endParaRPr sz="2400"/>
          </a:p>
        </p:txBody>
      </p:sp>
      <p:sp>
        <p:nvSpPr>
          <p:cNvPr id="214" name="Google Shape;214;p25"/>
          <p:cNvSpPr/>
          <p:nvPr/>
        </p:nvSpPr>
        <p:spPr>
          <a:xfrm>
            <a:off x="611975" y="1152975"/>
            <a:ext cx="3881400" cy="170000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766763" y="1307753"/>
            <a:ext cx="367903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Folga zero e mudança de 1 sala (K = 2)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766763" y="1536353"/>
            <a:ext cx="3679031" cy="11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No exemplo anterior, mudar uma sala isolada reduz a capacidade de M1 abaixo da demanda e o movimento é rejeitado. Seriam necessárias duas mudanças simultâneas em escolas opostas.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4650575" y="1152975"/>
            <a:ext cx="3881400" cy="170000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4805363" y="1307753"/>
            <a:ext cx="367903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Sensibilidade à semente (K = 2)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4805363" y="1536351"/>
            <a:ext cx="3679031" cy="11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Como a busca aceita a primeira melhoria encontrada (first improvement), movimentos de uma única sala tomam decisões míopes logo no início (melhorias superficiais). O desalojamento guloso consome a folga cedo e deixa a busca presa em ótimos locais ruins.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25"/>
          <p:cNvGrpSpPr/>
          <p:nvPr/>
        </p:nvGrpSpPr>
        <p:grpSpPr>
          <a:xfrm>
            <a:off x="587757" y="3061172"/>
            <a:ext cx="7924800" cy="1564397"/>
            <a:chOff x="704800" y="3687159"/>
            <a:chExt cx="10566400" cy="957648"/>
          </a:xfrm>
        </p:grpSpPr>
        <p:sp>
          <p:nvSpPr>
            <p:cNvPr id="221" name="Google Shape;221;p25"/>
            <p:cNvSpPr/>
            <p:nvPr/>
          </p:nvSpPr>
          <p:spPr>
            <a:xfrm>
              <a:off x="704800" y="3687159"/>
              <a:ext cx="10566400" cy="957648"/>
            </a:xfrm>
            <a:prstGeom prst="roundRect">
              <a:avLst>
                <a:gd name="adj" fmla="val 11111"/>
              </a:avLst>
            </a:prstGeom>
            <a:solidFill>
              <a:srgbClr val="1C2A4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5"/>
            <p:cNvSpPr/>
            <p:nvPr/>
          </p:nvSpPr>
          <p:spPr>
            <a:xfrm>
              <a:off x="943475" y="3767263"/>
              <a:ext cx="10255504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5F0"/>
                </a:buClr>
                <a:buSzPts val="1100"/>
                <a:buFont typeface="Arial"/>
                <a:buNone/>
              </a:pPr>
              <a:r>
                <a:rPr lang="pt-BR" sz="1100" b="1" dirty="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Instancia1_G8 e Instancia2_G8: bloqueio da Vizinhança 3</a:t>
              </a:r>
              <a:endParaRPr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5"/>
            <p:cNvSpPr/>
            <p:nvPr/>
          </p:nvSpPr>
          <p:spPr>
            <a:xfrm>
              <a:off x="943475" y="3894263"/>
              <a:ext cx="9800000" cy="345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5F0"/>
                </a:buClr>
                <a:buSzPts val="1100"/>
                <a:buFont typeface="Arial"/>
                <a:buNone/>
              </a:pPr>
              <a:r>
                <a:rPr lang="pt-BR" sz="1100" dirty="0">
                  <a:solidFill>
                    <a:srgbClr val="F6F5F0"/>
                  </a:solidFill>
                  <a:latin typeface="Arial"/>
                  <a:ea typeface="Arial"/>
                  <a:cs typeface="Arial"/>
                  <a:sym typeface="Arial"/>
                </a:rPr>
                <a:t>Folga global de 15,1%, mas só 9 a 10 vagas livres por tipo e salas de 15 e 16 lugares: com K = 2 a melhoria é 0,0% (K = 1: 5,5% e 16,6%).</a:t>
              </a:r>
              <a:endParaRPr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25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10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22;p25">
            <a:extLst>
              <a:ext uri="{FF2B5EF4-FFF2-40B4-BE49-F238E27FC236}">
                <a16:creationId xmlns:a16="http://schemas.microsoft.com/office/drawing/2014/main" id="{040FBE09-9680-B8E4-79E9-4011CE71284E}"/>
              </a:ext>
            </a:extLst>
          </p:cNvPr>
          <p:cNvSpPr/>
          <p:nvPr/>
        </p:nvSpPr>
        <p:spPr>
          <a:xfrm>
            <a:off x="766763" y="4077337"/>
            <a:ext cx="769162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b="1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Instancia2_G4, K = 2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23;p25">
            <a:extLst>
              <a:ext uri="{FF2B5EF4-FFF2-40B4-BE49-F238E27FC236}">
                <a16:creationId xmlns:a16="http://schemas.microsoft.com/office/drawing/2014/main" id="{F6F18B4E-FCBD-3266-12C7-1346EA5128DF}"/>
              </a:ext>
            </a:extLst>
          </p:cNvPr>
          <p:cNvSpPr/>
          <p:nvPr/>
        </p:nvSpPr>
        <p:spPr>
          <a:xfrm>
            <a:off x="766763" y="4248825"/>
            <a:ext cx="769162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Semente 1: 8.216,10 km · Semente 2: 9.920,12 km · diferença de 1.704 km.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Resultados gerais nas 28 instâncias da turma</a:t>
            </a:r>
            <a:endParaRPr sz="2400"/>
          </a:p>
        </p:txBody>
      </p:sp>
      <p:sp>
        <p:nvSpPr>
          <p:cNvPr id="300" name="Cartao 300"/>
          <p:cNvSpPr/>
          <p:nvPr/>
        </p:nvSpPr>
        <p:spPr>
          <a:xfrm>
            <a:off x="609600" y="1060000"/>
            <a:ext cx="7924800" cy="25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</a:ln>
        </p:spPr>
        <p:txBody>
          <a:bodyPr wrap="square" lIns="68575" tIns="34275" rIns="68575" bIns="34275" anchor="t" anchorCtr="0">
            <a:noAutofit/>
          </a:bodyPr>
          <a:lstStyle/>
          <a:p>
            <a:endParaRPr sz="1100"/>
          </a:p>
        </p:txBody>
      </p:sp>
      <p:sp>
        <p:nvSpPr>
          <p:cNvPr id="301" name="Texto 301"/>
          <p:cNvSpPr txBox="1"/>
          <p:nvPr/>
        </p:nvSpPr>
        <p:spPr>
          <a:xfrm>
            <a:off x="764000" y="1150000"/>
            <a:ext cx="7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Comportamento geral: melhoria sobre o construtivo (23 instâncias viáveis, 10 sementes)</a:t>
            </a:r>
          </a:p>
        </p:txBody>
      </p:sp>
      <p:pic>
        <p:nvPicPr>
          <p:cNvPr id="302" name="Grafico 302" descr="Melhoria por ocupação e ganho de K = 2 sobre K = 1 por instân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400000"/>
            <a:ext cx="7700000" cy="2152333"/>
          </a:xfrm>
          <a:prstGeom prst="rect">
            <a:avLst/>
          </a:prstGeom>
        </p:spPr>
      </p:pic>
      <p:sp>
        <p:nvSpPr>
          <p:cNvPr id="303" name="Cartao 303"/>
          <p:cNvSpPr/>
          <p:nvPr/>
        </p:nvSpPr>
        <p:spPr>
          <a:xfrm>
            <a:off x="609600" y="3680000"/>
            <a:ext cx="7924800" cy="960000"/>
          </a:xfrm>
          <a:prstGeom prst="roundRect">
            <a:avLst>
              <a:gd name="adj" fmla="val 6000"/>
            </a:avLst>
          </a:prstGeom>
          <a:solidFill>
            <a:srgbClr val="1C2A42"/>
          </a:solidFill>
          <a:ln>
            <a:noFill/>
          </a:ln>
        </p:spPr>
        <p:txBody>
          <a:bodyPr wrap="square" lIns="68575" tIns="34275" rIns="68575" bIns="34275" anchor="t" anchorCtr="0">
            <a:noAutofit/>
          </a:bodyPr>
          <a:lstStyle/>
          <a:p>
            <a:endParaRPr sz="1100"/>
          </a:p>
        </p:txBody>
      </p:sp>
      <p:sp>
        <p:nvSpPr>
          <p:cNvPr id="304" name="Texto 304"/>
          <p:cNvSpPr txBox="1"/>
          <p:nvPr/>
        </p:nvSpPr>
        <p:spPr>
          <a:xfrm>
            <a:off x="764000" y="3750000"/>
            <a:ext cx="7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b="1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Análise dos Resultados</a:t>
            </a:r>
          </a:p>
        </p:txBody>
      </p:sp>
      <p:sp>
        <p:nvSpPr>
          <p:cNvPr id="305" name="Texto 305"/>
          <p:cNvSpPr txBox="1"/>
          <p:nvPr/>
        </p:nvSpPr>
        <p:spPr>
          <a:xfrm>
            <a:off x="764000" y="3990000"/>
            <a:ext cx="76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Acima de 92% de ocupação a melhoria média cai para 11,2% (K = 1) e 14,6% (K = 2); até 87% é 17,0% e 21,7%</a:t>
            </a:r>
          </a:p>
          <a:p>
            <a:pPr marL="114300" marR="0" lvl="0" indent="-1206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K = 2 supera K = 1 em 16 das 23 instâncias (+5,3 p.p. em média); nas outras 7 é igual ou pior, como G8 e as de ocupação &gt; 94%</a:t>
            </a:r>
          </a:p>
          <a:p>
            <a:pPr marL="114300" marR="0" lvl="0" indent="-1206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23 das 28 instâncias resolvidas (460 execuções viáveis); 67 execuções pararam no limite de 300 s</a:t>
            </a:r>
          </a:p>
        </p:txBody>
      </p:sp>
      <p:sp>
        <p:nvSpPr>
          <p:cNvPr id="240" name="Google Shape;240;p26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11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>
            <a:spLocks noGrp="1"/>
          </p:cNvSpPr>
          <p:nvPr>
            <p:ph type="title"/>
          </p:nvPr>
        </p:nvSpPr>
        <p:spPr>
          <a:xfrm>
            <a:off x="609600" y="292275"/>
            <a:ext cx="81624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Grupo 4: instâncias e resultados</a:t>
            </a:r>
            <a:endParaRPr sz="2400"/>
          </a:p>
        </p:txBody>
      </p:sp>
      <p:sp>
        <p:nvSpPr>
          <p:cNvPr id="300" name="Cartao 300"/>
          <p:cNvSpPr/>
          <p:nvPr/>
        </p:nvSpPr>
        <p:spPr>
          <a:xfrm>
            <a:off x="609600" y="720000"/>
            <a:ext cx="3881400" cy="8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</a:ln>
        </p:spPr>
        <p:txBody>
          <a:bodyPr wrap="square" lIns="68575" tIns="34275" rIns="68575" bIns="34275" anchor="t" anchorCtr="0">
            <a:noAutofit/>
          </a:bodyPr>
          <a:lstStyle/>
          <a:p>
            <a:endParaRPr sz="1100"/>
          </a:p>
        </p:txBody>
      </p:sp>
      <p:sp>
        <p:nvSpPr>
          <p:cNvPr id="301" name="Texto 301"/>
          <p:cNvSpPr txBox="1"/>
          <p:nvPr/>
        </p:nvSpPr>
        <p:spPr>
          <a:xfrm>
            <a:off x="764388" y="790000"/>
            <a:ext cx="3678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Instancia1_G4 · Base (uniforme)</a:t>
            </a:r>
          </a:p>
        </p:txBody>
      </p:sp>
      <p:sp>
        <p:nvSpPr>
          <p:cNvPr id="302" name="Texto 302"/>
          <p:cNvSpPr txBox="1"/>
          <p:nvPr/>
        </p:nvSpPr>
        <p:spPr>
          <a:xfrm>
            <a:off x="836000" y="1020000"/>
            <a:ext cx="36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3.995 candidatos, 4.700 vagas, 145 salas</a:t>
            </a:r>
          </a:p>
          <a:p>
            <a:pPr marL="114300" marR="0" lvl="0" indent="-1206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Todos os tipos espalhados pela cidade</a:t>
            </a:r>
          </a:p>
        </p:txBody>
      </p:sp>
      <p:sp>
        <p:nvSpPr>
          <p:cNvPr id="303" name="Cartao 303"/>
          <p:cNvSpPr/>
          <p:nvPr/>
        </p:nvSpPr>
        <p:spPr>
          <a:xfrm>
            <a:off x="4648125" y="720000"/>
            <a:ext cx="3881400" cy="8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</a:ln>
        </p:spPr>
        <p:txBody>
          <a:bodyPr wrap="square" lIns="68575" tIns="34275" rIns="68575" bIns="34275" anchor="t" anchorCtr="0">
            <a:noAutofit/>
          </a:bodyPr>
          <a:lstStyle/>
          <a:p>
            <a:endParaRPr sz="1100"/>
          </a:p>
        </p:txBody>
      </p:sp>
      <p:sp>
        <p:nvSpPr>
          <p:cNvPr id="304" name="Texto 304"/>
          <p:cNvSpPr txBox="1"/>
          <p:nvPr/>
        </p:nvSpPr>
        <p:spPr>
          <a:xfrm>
            <a:off x="4802913" y="790000"/>
            <a:ext cx="3678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Instancia2_G4 · Diferenciada (polarizada)</a:t>
            </a:r>
          </a:p>
        </p:txBody>
      </p:sp>
      <p:sp>
        <p:nvSpPr>
          <p:cNvPr id="305" name="Texto 305"/>
          <p:cNvSpPr txBox="1"/>
          <p:nvPr/>
        </p:nvSpPr>
        <p:spPr>
          <a:xfrm>
            <a:off x="4874500" y="1020000"/>
            <a:ext cx="36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3.970 candidatos, 4.670 vagas, 142 salas</a:t>
            </a:r>
          </a:p>
          <a:p>
            <a:pPr marL="114300" marR="0" lvl="0" indent="-1206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M1 na Zona Sul; M2 na Zona Norte</a:t>
            </a:r>
          </a:p>
        </p:txBody>
      </p:sp>
      <p:graphicFrame>
        <p:nvGraphicFramePr>
          <p:cNvPr id="247" name="Google Shape;247;p27"/>
          <p:cNvGraphicFramePr/>
          <p:nvPr>
            <p:extLst>
              <p:ext uri="{D42A27DB-BD31-4B8C-83A1-F6EECF244321}">
                <p14:modId xmlns:p14="http://schemas.microsoft.com/office/powerpoint/2010/main" val="2795137069"/>
              </p:ext>
            </p:extLst>
          </p:nvPr>
        </p:nvGraphicFramePr>
        <p:xfrm>
          <a:off x="614400" y="1686091"/>
          <a:ext cx="7915200" cy="1377815"/>
        </p:xfrm>
        <a:graphic>
          <a:graphicData uri="http://schemas.openxmlformats.org/drawingml/2006/table">
            <a:tbl>
              <a:tblPr>
                <a:noFill/>
                <a:tableStyleId>{762BA429-92C7-4906-BBCA-A9217BEA3410}</a:tableStyleId>
              </a:tblPr>
              <a:tblGrid>
                <a:gridCol w="102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6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9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Instância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Inicial (km)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 dirty="0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Final: média ± </a:t>
                      </a:r>
                      <a:r>
                        <a:rPr lang="pt-BR" sz="1000" b="1" u="none" strike="noStrike" cap="none" dirty="0" err="1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dp</a:t>
                      </a:r>
                      <a:r>
                        <a:rPr lang="pt-BR" sz="1000" b="1" u="none" strike="noStrike" cap="none" dirty="0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(km)</a:t>
                      </a:r>
                      <a:endParaRPr sz="10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Melhor (km)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Melhoria média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5F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>
                          <a:solidFill>
                            <a:srgbClr val="F6F5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Tempo busca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Instancia1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15.584,47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12.473,79 ± 69,51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12.362,94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20,0%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3,5 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25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Instancia1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15.584,47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10.222,62 ± 707,75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8.851,44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34,4%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83,3 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Instancia2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11.838,54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9.902,84 ± 42,02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9.867,92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16,4%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3,7 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Instancia2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11.838,54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8.945,42 ± 607,50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8.216,10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24,4%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A42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 dirty="0">
                          <a:solidFill>
                            <a:srgbClr val="1C2A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52,8 s</a:t>
                      </a:r>
                      <a:endParaRPr sz="10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325" marR="43325" marT="43325" marB="43325">
                    <a:lnL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8" name="Google Shape;248;p27"/>
          <p:cNvSpPr/>
          <p:nvPr/>
        </p:nvSpPr>
        <p:spPr>
          <a:xfrm>
            <a:off x="609600" y="3230000"/>
            <a:ext cx="3881400" cy="1260000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764388" y="3312486"/>
            <a:ext cx="36789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K = 2 contra K = 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764388" y="3507486"/>
            <a:ext cx="36789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A melhoria média sobe de 20,0% para 34,4% na Instância 1 (43,2% na melhor semente), ao custo de mais tempo e maior desvio. Na Instância 2 o ganho adicional é menor: +8,0 p.p. contra +14,4 p.p.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4648125" y="3229998"/>
            <a:ext cx="3881400" cy="1260000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4802913" y="3312498"/>
            <a:ext cx="36789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Efeito da polarização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4802913" y="3507498"/>
            <a:ext cx="36789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O custo inicial é 24% menor (11.838 contra 15.584 km). Melhor solução: 8.216 km, cerca de 2,07 km por candidato. Como um terço dos candidatos já está perto das escolas do seu tipo, sobra menos a ganhar com K = 2.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12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8162544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2400"/>
              <a:buFont typeface="Arial"/>
              <a:buNone/>
            </a:pPr>
            <a:r>
              <a:rPr lang="pt-BR" sz="2400" b="1" i="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Conclusões, dificuldades e melhorias futuras</a:t>
            </a:r>
            <a:endParaRPr sz="2400"/>
          </a:p>
        </p:txBody>
      </p:sp>
      <p:sp>
        <p:nvSpPr>
          <p:cNvPr id="264" name="Google Shape;264;p28"/>
          <p:cNvSpPr/>
          <p:nvPr/>
        </p:nvSpPr>
        <p:spPr>
          <a:xfrm>
            <a:off x="611975" y="1152975"/>
            <a:ext cx="2538300" cy="2511552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766762" y="1307753"/>
            <a:ext cx="229571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839724" y="1536353"/>
            <a:ext cx="2217039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Construtivo em &lt; 0,03 s e 100% viável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3 vizinhanças reduzem a distância em até 43,2% sem sair do espaço viável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Generalização validada nas 28 instâncias da turma (23 viáveis; até 48,6% de melhoria)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3307550" y="1152975"/>
            <a:ext cx="2538300" cy="2511551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 w="9525" cap="flat" cmpd="sng">
            <a:solidFill>
              <a:srgbClr val="DE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3462338" y="1307753"/>
            <a:ext cx="229571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6FE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2F6FE0"/>
                </a:solidFill>
                <a:latin typeface="Arial"/>
                <a:ea typeface="Arial"/>
                <a:cs typeface="Arial"/>
                <a:sym typeface="Arial"/>
              </a:rPr>
              <a:t>Dificuldades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3535299" y="1536353"/>
            <a:ext cx="2217039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Escolhas gulosas iniciais deixando tipos sem cobertura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A42"/>
              </a:buClr>
              <a:buSzPts val="1100"/>
              <a:buFont typeface="Arial"/>
              <a:buChar char="•"/>
            </a:pPr>
            <a:r>
              <a:rPr lang="pt-BR" sz="1100">
                <a:solidFill>
                  <a:srgbClr val="1C2A42"/>
                </a:solidFill>
                <a:latin typeface="Arial"/>
                <a:ea typeface="Arial"/>
                <a:cs typeface="Arial"/>
                <a:sym typeface="Arial"/>
              </a:rPr>
              <a:t>Custo da V3 com K = 2 e ótimos locais que dependem da semente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6000750" y="1150600"/>
            <a:ext cx="2533800" cy="2511551"/>
          </a:xfrm>
          <a:prstGeom prst="roundRect">
            <a:avLst>
              <a:gd name="adj" fmla="val 4464"/>
            </a:avLst>
          </a:prstGeom>
          <a:solidFill>
            <a:srgbClr val="1C2A4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6153150" y="1302990"/>
            <a:ext cx="229571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 b="1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Melhorias futuras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6226112" y="1531590"/>
            <a:ext cx="2217039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Troca simultânea de pares de salas entre escolas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ILS ou GRASP para perturbar ótimos locais e reduzir o desvio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Char char="•"/>
            </a:pP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Equidade: </a:t>
            </a:r>
            <a:r>
              <a:rPr lang="pt-BR" sz="1100" dirty="0" err="1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minimax</a:t>
            </a:r>
            <a:r>
              <a:rPr lang="pt-BR" sz="1100" dirty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 (minimizar a pior distância) ou penalidade quadrática (Σ d_ij²) para proteger candidatos isolados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609600" y="4678710"/>
            <a:ext cx="3924300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86272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586272"/>
                </a:solidFill>
                <a:latin typeface="Arial"/>
                <a:ea typeface="Arial"/>
                <a:cs typeface="Arial"/>
                <a:sym typeface="Arial"/>
              </a:rPr>
              <a:t>13 / 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A42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>
            <a:spLocks noGrp="1"/>
          </p:cNvSpPr>
          <p:nvPr>
            <p:ph type="title"/>
          </p:nvPr>
        </p:nvSpPr>
        <p:spPr>
          <a:xfrm>
            <a:off x="0" y="2001541"/>
            <a:ext cx="9144000" cy="33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3000"/>
              <a:buFont typeface="Arial"/>
              <a:buNone/>
            </a:pPr>
            <a:r>
              <a:rPr lang="pt-BR" sz="3000" b="1" i="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OBRIGADO</a:t>
            </a:r>
            <a:endParaRPr sz="3000"/>
          </a:p>
        </p:txBody>
      </p:sp>
      <p:sp>
        <p:nvSpPr>
          <p:cNvPr id="280" name="Google Shape;280;p29"/>
          <p:cNvSpPr/>
          <p:nvPr/>
        </p:nvSpPr>
        <p:spPr>
          <a:xfrm>
            <a:off x="6266252" y="4383770"/>
            <a:ext cx="25058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FB4FF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8FB4FF"/>
                </a:solidFill>
                <a:latin typeface="Arial"/>
                <a:ea typeface="Arial"/>
                <a:cs typeface="Arial"/>
                <a:sym typeface="Arial"/>
              </a:rPr>
              <a:t>DCC136 - Inteligência Computacional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609600" y="4351478"/>
            <a:ext cx="4572000" cy="25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0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6F5F0"/>
                </a:solidFill>
                <a:latin typeface="Arial"/>
                <a:ea typeface="Arial"/>
                <a:cs typeface="Arial"/>
                <a:sym typeface="Arial"/>
              </a:rPr>
              <a:t>UFJF - Departamento de Ciência da Computação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0" y="2531223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Perguntas?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eurística Construtiva e Busca Local">
  <a:themeElements>
    <a:clrScheme name="Heurística Construtiva e Busca Local">
      <a:dk1>
        <a:srgbClr val="1C2A42"/>
      </a:dk1>
      <a:lt1>
        <a:srgbClr val="F6F5F0"/>
      </a:lt1>
      <a:dk2>
        <a:srgbClr val="535D6E"/>
      </a:dk2>
      <a:lt2>
        <a:srgbClr val="E0E1DF"/>
      </a:lt2>
      <a:accent1>
        <a:srgbClr val="2F6FE0"/>
      </a:accent1>
      <a:accent2>
        <a:srgbClr val="8FB4FF"/>
      </a:accent2>
      <a:accent3>
        <a:srgbClr val="586272"/>
      </a:accent3>
      <a:accent4>
        <a:srgbClr val="B7C3D9"/>
      </a:accent4>
      <a:accent5>
        <a:srgbClr val="9AA0A6"/>
      </a:accent5>
      <a:accent6>
        <a:srgbClr val="737B8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1752</Words>
  <Application>Microsoft Office PowerPoint</Application>
  <PresentationFormat>Apresentação na tela (16:9)</PresentationFormat>
  <Paragraphs>246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Simple Light</vt:lpstr>
      <vt:lpstr>Heurística Construtiva e Busca Local</vt:lpstr>
      <vt:lpstr>Heurística Construtiva e Busca Local para o Problema de Localização de Locais de Prova</vt:lpstr>
      <vt:lpstr>O problema</vt:lpstr>
      <vt:lpstr>Representação da solução e avaliação</vt:lpstr>
      <vt:lpstr>Construtivo, Fase 1: tipo de cada escola</vt:lpstr>
      <vt:lpstr>Construtivo, Fase 2: alocação dos candidatos</vt:lpstr>
      <vt:lpstr>Estruturas de vizinhança</vt:lpstr>
      <vt:lpstr>Dinâmica da busca local</vt:lpstr>
      <vt:lpstr>Exemplo passo a passo em instância pequena</vt:lpstr>
      <vt:lpstr>Busca local com K = 2: passo a passo da V3</vt:lpstr>
      <vt:lpstr>Onde a abordagem não produz boa solução</vt:lpstr>
      <vt:lpstr>Resultados gerais nas 28 instâncias da turma</vt:lpstr>
      <vt:lpstr>Grupo 4: instâncias e resultados</vt:lpstr>
      <vt:lpstr>Conclusões, dificuldades e melhorias futuras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mickaell oliveira</dc:creator>
  <cp:lastModifiedBy>mickaell oliveira</cp:lastModifiedBy>
  <cp:revision>5</cp:revision>
  <dcterms:modified xsi:type="dcterms:W3CDTF">2026-10-30T00:53:46Z</dcterms:modified>
</cp:coreProperties>
</file>